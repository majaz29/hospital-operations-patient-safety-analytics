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layfair Display"/>
      <p:regular r:id="rId201314"/>
    </p:embeddedFont>
    <p:embeddedFont>
      <p:font typeface="Playfair Display SemiBold"/>
      <p:regular r:id="rId201315"/>
    </p:embeddedFont>
    <p:embeddedFont>
      <p:font typeface="Playfair Display Bold"/>
      <p:regular r:id="rId201316"/>
    </p:embeddedFont>
    <p:embeddedFont>
      <p:font typeface="Playfair Display Black"/>
      <p:regular r:id="rId201317"/>
    </p:embeddedFont>
    <p:embeddedFont>
      <p:font typeface="Public Sans"/>
      <p:regular r:id="rId201318"/>
    </p:embeddedFont>
    <p:embeddedFont>
      <p:font typeface="Public Sans SemiBold"/>
      <p:regular r:id="rId201319"/>
    </p:embeddedFont>
    <p:embeddedFont>
      <p:font typeface="Public Sans Bold"/>
      <p:regular r:id="rId201320"/>
    </p:embeddedFont>
    <p:embeddedFont>
      <p:font typeface="Public Sans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3.png"/><Relationship Id="rId10" Type="http://schemas.openxmlformats.org/officeDocument/2006/relationships/image" Target="../media/image-10-4.svg"/><Relationship Id="rId11" Type="http://schemas.openxmlformats.org/officeDocument/2006/relationships/image" Target="../media/image-10-11.jpe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7681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Hospital Operations &amp; Patient Safety Analytics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56682" y="1326852"/>
            <a:ext cx="1147833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Impact of Bed Occupancy on Staff Responsiveness and Patient Falls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61475" y="1846957"/>
            <a:ext cx="5334164" cy="537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2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96.2%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61475" y="2585740"/>
            <a:ext cx="5334164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Avg Bed Occupancy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2936180"/>
            <a:ext cx="53341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2020–2024 monthly mean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195957" y="1846957"/>
            <a:ext cx="5334263" cy="537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2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2.61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195957" y="2585740"/>
            <a:ext cx="5334263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Avg Fall Rate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95957" y="2936180"/>
            <a:ext cx="533426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Per 1,000 patient days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61475" y="3596481"/>
            <a:ext cx="5334164" cy="537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2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63.1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61475" y="4335264"/>
            <a:ext cx="5334164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Avg Responsiveness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1475" y="4685705"/>
            <a:ext cx="53341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Staff score (0–100 scale)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195957" y="3596481"/>
            <a:ext cx="5334263" cy="537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2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60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195957" y="4335264"/>
            <a:ext cx="5334263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Monthly Records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95957" y="4685705"/>
            <a:ext cx="533426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Jan 2020 – Dec 2024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4300" y="5124450"/>
            <a:ext cx="5470190" cy="1235869"/>
          </a:xfrm>
          <a:prstGeom prst="roundRect">
            <a:avLst>
              <a:gd name="adj" fmla="val 9485"/>
            </a:avLst>
          </a:prstGeom>
          <a:solidFill>
            <a:srgbClr val="B05B5C"/>
          </a:solidFill>
          <a:ln/>
        </p:spPr>
      </p:sp>
      <p:sp>
        <p:nvSpPr>
          <p:cNvPr id="17" name="Text 15"/>
          <p:cNvSpPr/>
          <p:nvPr/>
        </p:nvSpPr>
        <p:spPr>
          <a:xfrm>
            <a:off x="707015" y="5284688"/>
            <a:ext cx="5144760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Tools Used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7015" y="5699224"/>
            <a:ext cx="57543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Python (Pandas) · Power BI · Excel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00729" y="5284688"/>
            <a:ext cx="5235841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Analytical Scope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00729" y="5699224"/>
            <a:ext cx="5235841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Trend analysis, descriptive statistics, correlation analysis, and KPI dashboard development across five years of hospital operations data.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80330"/>
            <a:ext cx="1836195" cy="247352"/>
          </a:xfrm>
          <a:prstGeom prst="roundRect">
            <a:avLst>
              <a:gd name="adj" fmla="val 22116"/>
            </a:avLst>
          </a:prstGeom>
          <a:solidFill>
            <a:srgbClr val="EEDDDD"/>
          </a:solidFill>
          <a:ln/>
        </p:spPr>
      </p:sp>
      <p:sp>
        <p:nvSpPr>
          <p:cNvPr id="3" name="Text 1"/>
          <p:cNvSpPr/>
          <p:nvPr/>
        </p:nvSpPr>
        <p:spPr>
          <a:xfrm>
            <a:off x="759104" y="629146"/>
            <a:ext cx="2250523" cy="149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01 — BUSINESS CONTEXT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91778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Business Problem &amp; Objectives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4300" y="1640780"/>
            <a:ext cx="5470190" cy="4636790"/>
          </a:xfrm>
          <a:prstGeom prst="roundRect">
            <a:avLst>
              <a:gd name="adj" fmla="val 2528"/>
            </a:avLst>
          </a:prstGeom>
          <a:solidFill>
            <a:srgbClr val="E1C2C2"/>
          </a:solidFill>
          <a:ln/>
        </p:spPr>
      </p:sp>
      <p:sp>
        <p:nvSpPr>
          <p:cNvPr id="6" name="Text 4"/>
          <p:cNvSpPr/>
          <p:nvPr/>
        </p:nvSpPr>
        <p:spPr>
          <a:xfrm>
            <a:off x="707015" y="1801019"/>
            <a:ext cx="5144760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7015" y="2215555"/>
            <a:ext cx="5144760" cy="1033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High bed occupancy rates may strain staff capacity — reducing responsiveness and increasing patient safety risks. Understanding these relationships is critical for hospital operations management and patient safety strategy.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07015" y="3409652"/>
            <a:ext cx="5144760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Research Question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7015" y="3824188"/>
            <a:ext cx="5144760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How do bed occupancy levels correlate with unassisted fall rates and staff responsiveness across a five-year period?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00729" y="1801019"/>
            <a:ext cx="5235841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00729" y="2235597"/>
            <a:ext cx="366306" cy="366316"/>
          </a:xfrm>
          <a:prstGeom prst="roundRect">
            <a:avLst>
              <a:gd name="adj" fmla="val 18667"/>
            </a:avLst>
          </a:prstGeom>
          <a:solidFill>
            <a:srgbClr val="E1C2C2">
              <a:alpha val="50000"/>
            </a:srgbClr>
          </a:solidFill>
          <a:ln w="6350">
            <a:solidFill>
              <a:srgbClr val="C7A8A8"/>
            </a:solidFill>
            <a:prstDash val="solid"/>
          </a:ln>
          <a:effectLst>
            <a:outerShdw sx="100000" sy="100000" kx="0" ky="0" algn="bl" rotWithShape="0" blurRad="127" dist="20320" dir="2700000">
              <a:srgbClr val="c7a8a8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61797" y="2266156"/>
            <a:ext cx="244171" cy="305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1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827270" y="2291556"/>
            <a:ext cx="4709300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Identify Trends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27270" y="2706092"/>
            <a:ext cx="4709300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Analyze yearly and monthly trends in occupancy, unassisted fall rates, and staff responsiveness from 2020 through 2024.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0729" y="3543498"/>
            <a:ext cx="366306" cy="366316"/>
          </a:xfrm>
          <a:prstGeom prst="roundRect">
            <a:avLst>
              <a:gd name="adj" fmla="val 18667"/>
            </a:avLst>
          </a:prstGeom>
          <a:solidFill>
            <a:srgbClr val="CCC4EC">
              <a:alpha val="50000"/>
            </a:srgbClr>
          </a:solidFill>
          <a:ln w="6350">
            <a:solidFill>
              <a:srgbClr val="B2AAD2"/>
            </a:solidFill>
            <a:prstDash val="solid"/>
          </a:ln>
          <a:effectLst>
            <a:outerShdw sx="100000" sy="100000" kx="0" ky="0" algn="bl" rotWithShape="0" blurRad="127" dist="20320" dir="2700000">
              <a:srgbClr val="b2aad2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61797" y="3574058"/>
            <a:ext cx="244171" cy="305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2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827270" y="3599458"/>
            <a:ext cx="4709300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Quantify Correlations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27270" y="4013994"/>
            <a:ext cx="4709300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Measure the strength and direction of relationships between the three key operational metrics using Pearson correlation coefficients.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0729" y="5109865"/>
            <a:ext cx="366306" cy="366316"/>
          </a:xfrm>
          <a:prstGeom prst="roundRect">
            <a:avLst>
              <a:gd name="adj" fmla="val 18667"/>
            </a:avLst>
          </a:prstGeom>
          <a:solidFill>
            <a:srgbClr val="B4DAE4">
              <a:alpha val="50000"/>
            </a:srgbClr>
          </a:solidFill>
          <a:ln w="6350">
            <a:solidFill>
              <a:srgbClr val="9AC0CA"/>
            </a:solidFill>
            <a:prstDash val="solid"/>
          </a:ln>
          <a:effectLst>
            <a:outerShdw sx="100000" sy="100000" kx="0" ky="0" algn="bl" rotWithShape="0" blurRad="127" dist="20320" dir="2700000">
              <a:srgbClr val="9ac0ca">
                <a:alpha val="10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61797" y="5140424"/>
            <a:ext cx="244171" cy="305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3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827270" y="5165824"/>
            <a:ext cx="4709300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Drive Recommendations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27270" y="5580360"/>
            <a:ext cx="4709300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Translate analytical findings into actionable recommendations to improve patient safety and operational performance.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88777"/>
            <a:ext cx="1620797" cy="251420"/>
          </a:xfrm>
          <a:prstGeom prst="roundRect">
            <a:avLst>
              <a:gd name="adj" fmla="val 22103"/>
            </a:avLst>
          </a:prstGeom>
          <a:solidFill>
            <a:srgbClr val="EEDDDD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738386"/>
            <a:ext cx="2031949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02 — DATA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00627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Dataset Overview &amp; Methodology</a:t>
            </a:r>
            <a:endParaRPr lang="en-US" sz="3250" dirty="0"/>
          </a:p>
        </p:txBody>
      </p:sp>
      <p:sp>
        <p:nvSpPr>
          <p:cNvPr id="5" name="Shape 3"/>
          <p:cNvSpPr/>
          <p:nvPr/>
        </p:nvSpPr>
        <p:spPr>
          <a:xfrm>
            <a:off x="661475" y="1771055"/>
            <a:ext cx="3512653" cy="1858665"/>
          </a:xfrm>
          <a:prstGeom prst="roundRect">
            <a:avLst>
              <a:gd name="adj" fmla="val 3737"/>
            </a:avLst>
          </a:prstGeom>
          <a:solidFill>
            <a:srgbClr val="E1C2C2">
              <a:alpha val="50000"/>
            </a:srgbClr>
          </a:solidFill>
          <a:ln w="6350">
            <a:solidFill>
              <a:srgbClr val="C7A8A8"/>
            </a:solidFill>
            <a:prstDash val="solid"/>
          </a:ln>
          <a:effectLst>
            <a:outerShdw sx="100000" sy="100000" kx="0" ky="0" algn="bl" rotWithShape="0" blurRad="127" dist="21590" dir="2700000">
              <a:srgbClr val="c7a8a8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33119" y="1942703"/>
            <a:ext cx="31693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Time Period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3119" y="2300387"/>
            <a:ext cx="3169364" cy="893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January 2020 – December 2024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60 monthly records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of hospital-wide aggregated data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9422" y="1771055"/>
            <a:ext cx="3512752" cy="1858665"/>
          </a:xfrm>
          <a:prstGeom prst="roundRect">
            <a:avLst>
              <a:gd name="adj" fmla="val 3737"/>
            </a:avLst>
          </a:prstGeom>
          <a:solidFill>
            <a:srgbClr val="CCC4EC">
              <a:alpha val="50000"/>
            </a:srgbClr>
          </a:solidFill>
          <a:ln w="6350">
            <a:solidFill>
              <a:srgbClr val="B2AAD2"/>
            </a:solidFill>
            <a:prstDash val="solid"/>
          </a:ln>
          <a:effectLst>
            <a:outerShdw sx="100000" sy="100000" kx="0" ky="0" algn="bl" rotWithShape="0" blurRad="127" dist="21590" dir="2700000">
              <a:srgbClr val="b2aad2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11066" y="1942703"/>
            <a:ext cx="31694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Granularity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11066" y="2300387"/>
            <a:ext cx="3169464" cy="1157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Monthly aggregated, hospital-wide scope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Each record represents one full calendar month of operations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17468" y="1771055"/>
            <a:ext cx="3512653" cy="1858665"/>
          </a:xfrm>
          <a:prstGeom prst="roundRect">
            <a:avLst>
              <a:gd name="adj" fmla="val 3737"/>
            </a:avLst>
          </a:prstGeom>
          <a:solidFill>
            <a:srgbClr val="B4DAE4">
              <a:alpha val="50000"/>
            </a:srgbClr>
          </a:solidFill>
          <a:ln w="6350">
            <a:solidFill>
              <a:srgbClr val="9AC0CA"/>
            </a:solidFill>
            <a:prstDash val="solid"/>
          </a:ln>
          <a:effectLst>
            <a:outerShdw sx="100000" sy="100000" kx="0" ky="0" algn="bl" rotWithShape="0" blurRad="127" dist="21590" dir="2700000">
              <a:srgbClr val="9ac0ca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89112" y="1942703"/>
            <a:ext cx="31693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Data Source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89112" y="2300387"/>
            <a:ext cx="3169364" cy="893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Hospital operations case study dataset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Loaded from raw Excel format and cleaned in Python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1475" y="3877766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Key Metrics Tracked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4384278"/>
            <a:ext cx="3512653" cy="178484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22017" y="4568627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Bed Occupancy Rate (%)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22017" y="4926310"/>
            <a:ext cx="3067767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Monthly percentage of occupied beds relative to total available capacity. The primary independent variable in the analysis.</a:t>
            </a:r>
            <a:endParaRPr lang="en-US" sz="13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422" y="4384278"/>
            <a:ext cx="3512752" cy="178484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99964" y="4568627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Unassisted Fall Rate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4599964" y="4926310"/>
            <a:ext cx="306786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Number of unassisted patient falls per 1,000 patient days. A critical patient safety outcome metric tracked month-over-month.</a:t>
            </a:r>
            <a:endParaRPr lang="en-US" sz="13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7468" y="4384278"/>
            <a:ext cx="3512653" cy="178484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278010" y="4568627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Staff Responsiveness Score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278010" y="4926310"/>
            <a:ext cx="3067767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Composite score (0–100) measuring how quickly and effectively staff respond to patient needs. Serves as the key mediator variable in the analysis.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8716"/>
            <a:ext cx="1270167" cy="172641"/>
          </a:xfrm>
          <a:prstGeom prst="roundRect">
            <a:avLst>
              <a:gd name="adj" fmla="val 22130"/>
            </a:avLst>
          </a:prstGeom>
          <a:solidFill>
            <a:srgbClr val="EEDDDD"/>
          </a:solidFill>
          <a:ln/>
        </p:spPr>
      </p:sp>
      <p:sp>
        <p:nvSpPr>
          <p:cNvPr id="3" name="Text 1"/>
          <p:cNvSpPr/>
          <p:nvPr/>
        </p:nvSpPr>
        <p:spPr>
          <a:xfrm>
            <a:off x="729636" y="552748"/>
            <a:ext cx="1743428" cy="104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03 — DATA PREPARATION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722610"/>
            <a:ext cx="10868745" cy="355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Data Cleaning &amp; Preparation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61475" y="1273175"/>
            <a:ext cx="5295668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Tool: Python (Pandas)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61475" y="1538784"/>
            <a:ext cx="227404" cy="1420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F655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61475" y="1719263"/>
            <a:ext cx="5295668" cy="12700"/>
          </a:xfrm>
          <a:prstGeom prst="rect">
            <a:avLst/>
          </a:prstGeom>
          <a:solidFill>
            <a:srgbClr val="E1C2C2"/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1801515"/>
            <a:ext cx="5295668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Load Raw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1475" y="2057301"/>
            <a:ext cx="5295668" cy="306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Imported the raw Excel dataset into Python using Pandas for programmatic cleaning and transformation.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61475" y="2527598"/>
            <a:ext cx="227404" cy="1420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F655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61475" y="2708077"/>
            <a:ext cx="5295668" cy="12700"/>
          </a:xfrm>
          <a:prstGeom prst="rect">
            <a:avLst/>
          </a:prstGeom>
          <a:solidFill>
            <a:srgbClr val="CCC4EC"/>
          </a:solidFill>
          <a:ln/>
        </p:spPr>
      </p:sp>
      <p:sp>
        <p:nvSpPr>
          <p:cNvPr id="12" name="Text 10"/>
          <p:cNvSpPr/>
          <p:nvPr/>
        </p:nvSpPr>
        <p:spPr>
          <a:xfrm>
            <a:off x="661475" y="2790329"/>
            <a:ext cx="5295668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Structural Cleanup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1475" y="3046115"/>
            <a:ext cx="5295668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Removed an empty/unnamed column. Verified dataset shape, data types, and field completeness.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61475" y="3362920"/>
            <a:ext cx="227404" cy="1420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F655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61475" y="3543399"/>
            <a:ext cx="5295668" cy="12700"/>
          </a:xfrm>
          <a:prstGeom prst="rect">
            <a:avLst/>
          </a:prstGeom>
          <a:solidFill>
            <a:srgbClr val="B4DAE4"/>
          </a:solidFill>
          <a:ln/>
        </p:spPr>
      </p:sp>
      <p:sp>
        <p:nvSpPr>
          <p:cNvPr id="16" name="Text 14"/>
          <p:cNvSpPr/>
          <p:nvPr/>
        </p:nvSpPr>
        <p:spPr>
          <a:xfrm>
            <a:off x="661475" y="3625652"/>
            <a:ext cx="5295668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Missing Value Check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1475" y="3881438"/>
            <a:ext cx="5295668" cy="306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Confirmed </a:t>
            </a:r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no missing values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in any of the three analysis fields — data was complete across all 60 records.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61475" y="4351734"/>
            <a:ext cx="227404" cy="1420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F655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61475" y="4532213"/>
            <a:ext cx="5295668" cy="12700"/>
          </a:xfrm>
          <a:prstGeom prst="rect">
            <a:avLst/>
          </a:prstGeom>
          <a:solidFill>
            <a:srgbClr val="E1C2C2"/>
          </a:solidFill>
          <a:ln/>
        </p:spPr>
      </p:sp>
      <p:sp>
        <p:nvSpPr>
          <p:cNvPr id="20" name="Text 18"/>
          <p:cNvSpPr/>
          <p:nvPr/>
        </p:nvSpPr>
        <p:spPr>
          <a:xfrm>
            <a:off x="661475" y="4614466"/>
            <a:ext cx="5295668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1475" y="4870252"/>
            <a:ext cx="5295668" cy="306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Created </a:t>
            </a:r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Month_Name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and </a:t>
            </a:r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Year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fields to enable time-series trend analysis. Renamed KPI fields for clearer interpretation.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61475" y="5340548"/>
            <a:ext cx="227404" cy="1420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F655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05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61475" y="5521027"/>
            <a:ext cx="5295668" cy="12700"/>
          </a:xfrm>
          <a:prstGeom prst="rect">
            <a:avLst/>
          </a:prstGeom>
          <a:solidFill>
            <a:srgbClr val="CCC4EC"/>
          </a:solidFill>
          <a:ln/>
        </p:spPr>
      </p:sp>
      <p:sp>
        <p:nvSpPr>
          <p:cNvPr id="24" name="Text 22"/>
          <p:cNvSpPr/>
          <p:nvPr/>
        </p:nvSpPr>
        <p:spPr>
          <a:xfrm>
            <a:off x="661475" y="5603280"/>
            <a:ext cx="5295668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Export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1475" y="5859066"/>
            <a:ext cx="5295668" cy="306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Exported the cleaned dataset as </a:t>
            </a:r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hospital_cleaned_data.csv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for use in downstream analysis and Power BI.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59048" y="1195090"/>
            <a:ext cx="5459375" cy="5144095"/>
          </a:xfrm>
          <a:prstGeom prst="roundRect">
            <a:avLst>
              <a:gd name="adj" fmla="val 1592"/>
            </a:avLst>
          </a:prstGeom>
          <a:solidFill>
            <a:srgbClr val="E2F0F3"/>
          </a:solidFill>
          <a:ln/>
        </p:spPr>
      </p:sp>
      <p:sp>
        <p:nvSpPr>
          <p:cNvPr id="27" name="Text 25"/>
          <p:cNvSpPr/>
          <p:nvPr/>
        </p:nvSpPr>
        <p:spPr>
          <a:xfrm>
            <a:off x="6272750" y="1273175"/>
            <a:ext cx="5231971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Data Quality Summary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72750" y="1538784"/>
            <a:ext cx="5231971" cy="1603573"/>
          </a:xfrm>
          <a:prstGeom prst="roundRect">
            <a:avLst>
              <a:gd name="adj" fmla="val 2978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2750" y="1808163"/>
            <a:ext cx="5231971" cy="710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272750" y="2074366"/>
            <a:ext cx="5231971" cy="710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272750" y="2340570"/>
            <a:ext cx="5231971" cy="710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272750" y="2606774"/>
            <a:ext cx="5231971" cy="710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272750" y="2872978"/>
            <a:ext cx="5231971" cy="710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392901" y="1598315"/>
            <a:ext cx="2991767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Check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002487" y="1598315"/>
            <a:ext cx="2991767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Result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392901" y="1864519"/>
            <a:ext cx="2991767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Total Records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002487" y="1864519"/>
            <a:ext cx="2991767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60 months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392901" y="2130723"/>
            <a:ext cx="2991767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Missing Values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9002487" y="2130723"/>
            <a:ext cx="2991767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None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392901" y="2396927"/>
            <a:ext cx="2991767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Data Types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9002487" y="2396927"/>
            <a:ext cx="2991767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Verified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392901" y="2663130"/>
            <a:ext cx="2991767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Unusual Values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002487" y="2663130"/>
            <a:ext cx="2991767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 flagged (Mar 2020)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392901" y="2929334"/>
            <a:ext cx="2991767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Output Format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9002487" y="2929334"/>
            <a:ext cx="2991767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hospital_cleaned_data.csv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272750" y="3230265"/>
            <a:ext cx="5231971" cy="504428"/>
          </a:xfrm>
          <a:prstGeom prst="roundRect">
            <a:avLst>
              <a:gd name="adj" fmla="val 9467"/>
            </a:avLst>
          </a:prstGeom>
          <a:solidFill>
            <a:srgbClr val="EEDDDD"/>
          </a:solidFill>
          <a:ln/>
        </p:spPr>
      </p:sp>
      <p:pic>
        <p:nvPicPr>
          <p:cNvPr id="4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6452" y="3351510"/>
            <a:ext cx="142078" cy="113705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6642231" y="3328988"/>
            <a:ext cx="4748788" cy="306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March 2020 occupancy of </a:t>
            </a:r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81%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was flagged as an outlier consistent with early pandemic disruption. It was retained in the dataset with contextual annotation.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21308"/>
            <a:ext cx="799981" cy="239415"/>
          </a:xfrm>
          <a:prstGeom prst="roundRect">
            <a:avLst>
              <a:gd name="adj" fmla="val 22123"/>
            </a:avLst>
          </a:prstGeom>
          <a:solidFill>
            <a:srgbClr val="EEDDDD"/>
          </a:solidFill>
          <a:ln/>
        </p:spPr>
      </p:sp>
      <p:sp>
        <p:nvSpPr>
          <p:cNvPr id="3" name="Text 1"/>
          <p:cNvSpPr/>
          <p:nvPr/>
        </p:nvSpPr>
        <p:spPr>
          <a:xfrm>
            <a:off x="756028" y="668536"/>
            <a:ext cx="1220459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04 — EDA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920750"/>
            <a:ext cx="10868745" cy="492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Exploratory Data Analysis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61475" y="1717477"/>
            <a:ext cx="3497770" cy="520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0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96.2%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661475" y="2429073"/>
            <a:ext cx="3497770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Avg Bed Occupancy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61475" y="2765425"/>
            <a:ext cx="3497770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Consistently near-capacity across the 5-year period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46962" y="1717477"/>
            <a:ext cx="3497770" cy="520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0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2.61</a:t>
            </a:r>
            <a:endParaRPr lang="en-US" sz="4050" dirty="0"/>
          </a:p>
        </p:txBody>
      </p:sp>
      <p:sp>
        <p:nvSpPr>
          <p:cNvPr id="9" name="Text 7"/>
          <p:cNvSpPr/>
          <p:nvPr/>
        </p:nvSpPr>
        <p:spPr>
          <a:xfrm>
            <a:off x="4346962" y="2429073"/>
            <a:ext cx="3497770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Avg Fall Rate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346962" y="2765425"/>
            <a:ext cx="3497770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Unassisted falls per 1,000 patient days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32450" y="1717477"/>
            <a:ext cx="3497770" cy="520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0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63.1</a:t>
            </a:r>
            <a:endParaRPr lang="en-US" sz="4050" dirty="0"/>
          </a:p>
        </p:txBody>
      </p:sp>
      <p:sp>
        <p:nvSpPr>
          <p:cNvPr id="12" name="Text 10"/>
          <p:cNvSpPr/>
          <p:nvPr/>
        </p:nvSpPr>
        <p:spPr>
          <a:xfrm>
            <a:off x="8032450" y="2429073"/>
            <a:ext cx="3497770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Avg Responsiveness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032450" y="2765425"/>
            <a:ext cx="3497770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Staff responsiveness score out of 100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1475" y="3577134"/>
            <a:ext cx="5242092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Key Observation: March 2020 Anomaly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61475" y="3973612"/>
            <a:ext cx="5242092" cy="1858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Exploratory analysis identified an unusually low </a:t>
            </a:r>
            <a:pPr algn="l" indent="0" marL="0">
              <a:lnSpc>
                <a:spcPct val="130000"/>
              </a:lnSpc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81% occupancy in March 2020</a:t>
            </a:r>
            <a:pPr algn="l" indent="0" marL="0">
              <a:lnSpc>
                <a:spcPct val="1300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— a significant deviation from the dataset norm. Further investigation confirmed this was an isolated pandemic-period observation.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March occupancy in subsequent years was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95%, 96%, 98%, and 94%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(2021–2024), confirming that the low March average across the full dataset was heavily influenced by the single 2020 data point.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80975" y="3426916"/>
            <a:ext cx="5469098" cy="2809677"/>
          </a:xfrm>
          <a:prstGeom prst="roundRect">
            <a:avLst>
              <a:gd name="adj" fmla="val 4040"/>
            </a:avLst>
          </a:prstGeom>
          <a:solidFill>
            <a:srgbClr val="FCE8DD"/>
          </a:solidFill>
          <a:ln/>
        </p:spPr>
      </p:sp>
      <p:sp>
        <p:nvSpPr>
          <p:cNvPr id="17" name="Text 15"/>
          <p:cNvSpPr/>
          <p:nvPr/>
        </p:nvSpPr>
        <p:spPr>
          <a:xfrm>
            <a:off x="6338530" y="3577134"/>
            <a:ext cx="5153987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Distributions &amp; Descriptive Statistics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338530" y="3973612"/>
            <a:ext cx="5153987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Reviewed full distributions and descriptive statistics for all three KPIs. Key observations: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38530" y="4601270"/>
            <a:ext cx="5153987" cy="1582737"/>
          </a:xfrm>
          <a:prstGeom prst="rect">
            <a:avLst/>
          </a:prstGeom>
          <a:noFill/>
          <a:ln/>
        </p:spPr>
        <p:txBody>
          <a:bodyPr wrap="square" lIns="0" tIns="63055" rIns="0" bIns="0" rtlCol="0" anchor="t">
            <a:normAutofit/>
          </a:bodyPr>
          <a:lstStyle/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Bed occupancy was 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highly right-clustered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— the hospital operated near capacity for the vast majority of the study period</a:t>
            </a:r>
            <a:endParaRPr lang="en-US" sz="1200" dirty="0"/>
          </a:p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Fall rates showed 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moderate variability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across months, with peaks aligning with high-occupancy periods</a:t>
            </a:r>
            <a:endParaRPr lang="en-US" sz="1200" dirty="0"/>
          </a:p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Staff responsiveness scores showed 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consistent underperformance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relative to benchmark levels in multiple periods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54819"/>
            <a:ext cx="845223" cy="125710"/>
          </a:xfrm>
          <a:prstGeom prst="roundRect">
            <a:avLst>
              <a:gd name="adj" fmla="val 22103"/>
            </a:avLst>
          </a:prstGeom>
          <a:solidFill>
            <a:srgbClr val="EEDDDD"/>
          </a:solidFill>
          <a:ln/>
        </p:spPr>
      </p:sp>
      <p:sp>
        <p:nvSpPr>
          <p:cNvPr id="3" name="Text 1"/>
          <p:cNvSpPr/>
          <p:nvPr/>
        </p:nvSpPr>
        <p:spPr>
          <a:xfrm>
            <a:off x="711083" y="479623"/>
            <a:ext cx="1355592" cy="76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 — TREND ANALYSIS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661475" y="59699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Bed Occupancy Trends (2020–2024)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17476"/>
            <a:ext cx="10868745" cy="60865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1945" y="7050484"/>
            <a:ext cx="5452628" cy="546298"/>
          </a:xfrm>
          <a:prstGeom prst="roundRect">
            <a:avLst>
              <a:gd name="adj" fmla="val 10899"/>
            </a:avLst>
          </a:prstGeom>
          <a:solidFill>
            <a:srgbClr val="E1C2C2"/>
          </a:solidFill>
          <a:ln/>
        </p:spPr>
      </p:sp>
      <p:sp>
        <p:nvSpPr>
          <p:cNvPr id="7" name="Text 4"/>
          <p:cNvSpPr/>
          <p:nvPr/>
        </p:nvSpPr>
        <p:spPr>
          <a:xfrm>
            <a:off x="684592" y="7091759"/>
            <a:ext cx="5287334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84592" y="7262217"/>
            <a:ext cx="5287334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Bed occupancy remained </a:t>
            </a:r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consistently high throughout the entire five-year period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, never falling below 94.6% on a yearly average basis. The hospital operated at or near capacity for virtually the entire study window.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6203001" y="7091759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Trend Narrative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203001" y="7262217"/>
            <a:ext cx="5333569" cy="297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Occupancy increased steadily from </a:t>
            </a:r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94.6% in 2020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through a peak of </a:t>
            </a:r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97.2% in 2023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— the highest yearly average on record — before a marginal decline to </a:t>
            </a:r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96.8% in 2024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 The 2020 figure reflects the partial impact of the COVID-19 pandemic on hospital utilization patterns early in the year.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64939"/>
            <a:ext cx="1398354" cy="208062"/>
          </a:xfrm>
          <a:prstGeom prst="roundRect">
            <a:avLst>
              <a:gd name="adj" fmla="val 22118"/>
            </a:avLst>
          </a:prstGeom>
          <a:solidFill>
            <a:srgbClr val="EEDDDD"/>
          </a:solidFill>
          <a:ln/>
        </p:spPr>
      </p:sp>
      <p:sp>
        <p:nvSpPr>
          <p:cNvPr id="3" name="Text 1"/>
          <p:cNvSpPr/>
          <p:nvPr/>
        </p:nvSpPr>
        <p:spPr>
          <a:xfrm>
            <a:off x="743626" y="506016"/>
            <a:ext cx="1843637" cy="125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06 — TREND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718344"/>
            <a:ext cx="10868745" cy="427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Fall Rate &amp; Responsiveness Trends (2020–2024)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661475" y="1429742"/>
            <a:ext cx="5267292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Unassisted Fall Rate (per 1,000 patient days)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71352"/>
            <a:ext cx="5267292" cy="379144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5690394"/>
            <a:ext cx="5267292" cy="600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Unassisted fall rates increased from </a:t>
            </a:r>
            <a:pPr algn="l"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2.3 in 2020</a:t>
            </a:r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to a peak of </a:t>
            </a:r>
            <a:pPr algn="l"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2.8 in 2022–2023</a:t>
            </a:r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, before improving to </a:t>
            </a:r>
            <a:pPr algn="l"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2.6 in 2024</a:t>
            </a:r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 This pattern closely mirrors the rise and slight retreat of bed occupancy over the same period.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269278" y="1429742"/>
            <a:ext cx="5267292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Staff Responsiveness Performance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69278" y="1757164"/>
            <a:ext cx="5876877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Average staff responsiveness across the full period: </a:t>
            </a:r>
            <a:pPr algn="l"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63.1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9278" y="2084983"/>
            <a:ext cx="5267292" cy="10398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01444" y="2240955"/>
            <a:ext cx="4879158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2022 — Weakest Year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501444" y="2568377"/>
            <a:ext cx="4879158" cy="400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Responsiveness reached its lowest yearly performance in 2022, coinciding with peak occupancy pressure.</a:t>
            </a:r>
            <a:endParaRPr lang="en-US" sz="10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69278" y="3238202"/>
            <a:ext cx="5267292" cy="10398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01444" y="3394174"/>
            <a:ext cx="4879158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Post-2022 Recovery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501444" y="3721596"/>
            <a:ext cx="4879158" cy="400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Performance improved after 2022, consistent with the partial reduction in occupancy pressure in 2024.</a:t>
            </a:r>
            <a:endParaRPr lang="en-US" sz="1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69278" y="4391422"/>
            <a:ext cx="5267292" cy="124003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01444" y="4547394"/>
            <a:ext cx="4879158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Benchmark Gap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501444" y="4874816"/>
            <a:ext cx="4879158" cy="600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Year-specific benchmarks ranged between </a:t>
            </a:r>
            <a:pPr algn="l"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65 and 66</a:t>
            </a:r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 Staff responsiveness was below benchmark in several periods, indicating a structural performance gap.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54819"/>
            <a:ext cx="1758807" cy="204192"/>
          </a:xfrm>
          <a:prstGeom prst="roundRect">
            <a:avLst>
              <a:gd name="adj" fmla="val 22112"/>
            </a:avLst>
          </a:prstGeom>
          <a:solidFill>
            <a:srgbClr val="EEDDDD"/>
          </a:solidFill>
          <a:ln/>
        </p:spPr>
      </p:sp>
      <p:sp>
        <p:nvSpPr>
          <p:cNvPr id="3" name="Text 1"/>
          <p:cNvSpPr/>
          <p:nvPr/>
        </p:nvSpPr>
        <p:spPr>
          <a:xfrm>
            <a:off x="742038" y="495102"/>
            <a:ext cx="2207264" cy="123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07 — CORRELATION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702667"/>
            <a:ext cx="10868745" cy="419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Correlation Analysis &amp; Key Findings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00954" y="2159695"/>
            <a:ext cx="1652844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70%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9586" y="1319808"/>
            <a:ext cx="2015678" cy="20157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3478213"/>
            <a:ext cx="3531901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Occupancy → Falls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1475" y="3753644"/>
            <a:ext cx="3531901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 = +0.70 · Strong positive correlation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269277" y="2159695"/>
            <a:ext cx="1652844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37%</a:t>
            </a:r>
            <a:endParaRPr lang="en-US" sz="2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7909" y="1319808"/>
            <a:ext cx="2015678" cy="20157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29798" y="3478213"/>
            <a:ext cx="3532000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Occupancy → Responsiveness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329798" y="3753644"/>
            <a:ext cx="3532000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 = −0.37 · Moderate negative correlation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937699" y="2159695"/>
            <a:ext cx="1652844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79%</a:t>
            </a:r>
            <a:endParaRPr lang="en-US" sz="26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6332" y="1319808"/>
            <a:ext cx="2015678" cy="20157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998220" y="3478213"/>
            <a:ext cx="3532000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Responsiveness → Falls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7998220" y="3753644"/>
            <a:ext cx="3532000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 = −0.79 · Strong negative correlation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61475" y="4071243"/>
            <a:ext cx="3550156" cy="1545828"/>
          </a:xfrm>
          <a:prstGeom prst="roundRect">
            <a:avLst>
              <a:gd name="adj" fmla="val 3651"/>
            </a:avLst>
          </a:prstGeom>
          <a:solidFill>
            <a:srgbClr val="E1C2C2">
              <a:alpha val="50000"/>
            </a:srgbClr>
          </a:solidFill>
          <a:ln w="6350">
            <a:solidFill>
              <a:srgbClr val="C7A8A8"/>
            </a:solidFill>
            <a:prstDash val="solid"/>
          </a:ln>
          <a:effectLst>
            <a:outerShdw sx="100000" sy="100000" kx="0" ky="0" algn="bl" rotWithShape="0" blurRad="127" dist="17780" dir="2700000">
              <a:srgbClr val="c7a8a8">
                <a:alpha val="100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802164" y="4211935"/>
            <a:ext cx="3268779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Higher Occupancy → More Falls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02164" y="4487366"/>
            <a:ext cx="3268779" cy="779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strong positive correlation (r = +0.70) between bed occupancy and unassisted fall rate was observed. As the hospital approached capacity, fall incidents increased.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320769" y="4071243"/>
            <a:ext cx="3550156" cy="1545828"/>
          </a:xfrm>
          <a:prstGeom prst="roundRect">
            <a:avLst>
              <a:gd name="adj" fmla="val 3651"/>
            </a:avLst>
          </a:prstGeom>
          <a:solidFill>
            <a:srgbClr val="CCC4EC">
              <a:alpha val="50000"/>
            </a:srgbClr>
          </a:solidFill>
          <a:ln w="6350">
            <a:solidFill>
              <a:srgbClr val="B2AAD2"/>
            </a:solidFill>
            <a:prstDash val="solid"/>
          </a:ln>
          <a:effectLst>
            <a:outerShdw sx="100000" sy="100000" kx="0" ky="0" algn="bl" rotWithShape="0" blurRad="127" dist="17780" dir="2700000">
              <a:srgbClr val="b2aad2">
                <a:alpha val="100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4461458" y="4211935"/>
            <a:ext cx="3268779" cy="419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Higher Occupancy → Lower Responsiveness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461458" y="4697313"/>
            <a:ext cx="3268779" cy="779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moderate negative correlation (r = −0.37) indicates that as occupancy increased, staff responsiveness scores declined — consistent with capacity strain on staff resources.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980064" y="4071243"/>
            <a:ext cx="3550156" cy="1545828"/>
          </a:xfrm>
          <a:prstGeom prst="roundRect">
            <a:avLst>
              <a:gd name="adj" fmla="val 3651"/>
            </a:avLst>
          </a:prstGeom>
          <a:solidFill>
            <a:srgbClr val="B4DAE4">
              <a:alpha val="50000"/>
            </a:srgbClr>
          </a:solidFill>
          <a:ln w="6350">
            <a:solidFill>
              <a:srgbClr val="9AC0CA"/>
            </a:solidFill>
            <a:prstDash val="solid"/>
          </a:ln>
          <a:effectLst>
            <a:outerShdw sx="100000" sy="100000" kx="0" ky="0" algn="bl" rotWithShape="0" blurRad="127" dist="17780" dir="2700000">
              <a:srgbClr val="9ac0ca">
                <a:alpha val="100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8120752" y="4211935"/>
            <a:ext cx="3268779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Lower Responsiveness → More Falls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120752" y="4487366"/>
            <a:ext cx="3268779" cy="779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</a:t>
            </a:r>
            <a:pPr algn="l" indent="0" marL="0">
              <a:lnSpc>
                <a:spcPct val="121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strongest relationship found</a:t>
            </a:r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: r = −0.79 between fall rate and responsiveness. Better responsiveness is strongly associated with fewer patient falls — the most actionable finding.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661475" y="5739904"/>
            <a:ext cx="10868745" cy="663972"/>
          </a:xfrm>
          <a:prstGeom prst="roundRect">
            <a:avLst>
              <a:gd name="adj" fmla="val 8500"/>
            </a:avLst>
          </a:prstGeom>
          <a:solidFill>
            <a:srgbClr val="EEDDDD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814" y="5898356"/>
            <a:ext cx="167973" cy="13434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98126" y="5882580"/>
            <a:ext cx="10297756" cy="389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Important caveat:</a:t>
            </a:r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These relationships indicate areas for further operational monitoring but do not establish causation. Additional confounding factors may influence each metric.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54819"/>
            <a:ext cx="1140888" cy="125710"/>
          </a:xfrm>
          <a:prstGeom prst="roundRect">
            <a:avLst>
              <a:gd name="adj" fmla="val 22103"/>
            </a:avLst>
          </a:prstGeom>
          <a:solidFill>
            <a:srgbClr val="EEDDDD"/>
          </a:solidFill>
          <a:ln/>
        </p:spPr>
      </p:sp>
      <p:sp>
        <p:nvSpPr>
          <p:cNvPr id="3" name="Text 1"/>
          <p:cNvSpPr/>
          <p:nvPr/>
        </p:nvSpPr>
        <p:spPr>
          <a:xfrm>
            <a:off x="711083" y="479623"/>
            <a:ext cx="1651256" cy="76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08 — ANALYTICAL FRAMEWORK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661475" y="59699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The Mediator Model: How These Metrics Connect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17476"/>
            <a:ext cx="10868745" cy="60224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51379" y="3461011"/>
            <a:ext cx="2295095" cy="30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Mediator Model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051379" y="3846650"/>
            <a:ext cx="2295095" cy="540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Responsiveness mediates occupancy effects on falls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504696" y="3647159"/>
            <a:ext cx="2401844" cy="30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Staff Responsiveness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381935" y="4032798"/>
            <a:ext cx="2647365" cy="360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Average response time to patient needs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7142" y="5274449"/>
            <a:ext cx="2401843" cy="30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Unassisted Fall Rate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144381" y="5660087"/>
            <a:ext cx="2647365" cy="180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Falls per 1,000 patient days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566038" y="1698281"/>
            <a:ext cx="2401843" cy="30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Bed Occupancy Rate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1443277" y="2083920"/>
            <a:ext cx="2647365" cy="180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Percentage of occupied beds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61475" y="6986389"/>
            <a:ext cx="10868745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Staff responsiveness functions as a </a:t>
            </a:r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critical mediator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between bed occupancy and patient falls. The strongest statistical relationship in the dataset (r = −0.79) exists between responsiveness and falls — not between occupancy and falls directly. This suggests that </a:t>
            </a:r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improving staff responsiveness, even under high-occupancy conditions, may be the most effective lever for reducing patient falls.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601945" y="7231063"/>
            <a:ext cx="5452628" cy="447179"/>
          </a:xfrm>
          <a:prstGeom prst="roundRect">
            <a:avLst>
              <a:gd name="adj" fmla="val 13315"/>
            </a:avLst>
          </a:prstGeom>
          <a:solidFill>
            <a:srgbClr val="E1C2C2"/>
          </a:solidFill>
          <a:ln/>
        </p:spPr>
      </p:sp>
      <p:sp>
        <p:nvSpPr>
          <p:cNvPr id="16" name="Text 13"/>
          <p:cNvSpPr/>
          <p:nvPr/>
        </p:nvSpPr>
        <p:spPr>
          <a:xfrm>
            <a:off x="684592" y="7272338"/>
            <a:ext cx="5287334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Strongest Signal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84592" y="7442795"/>
            <a:ext cx="5287334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Fall Rate 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↔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Responsiveness: </a:t>
            </a:r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r = −0.79</a:t>
            </a:r>
            <a:endParaRPr lang="en-US" sz="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Highest-magnitude correlation in the analysis. Responsiveness is the most actionable metric to target.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6203001" y="7272338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Operational Implication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03001" y="7442795"/>
            <a:ext cx="5333569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Because responsiveness partially mediates the occupancy-falls relationship, interventions that </a:t>
            </a:r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protect staff responsiveness capacity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during high-occupancy periods may produce the greatest safety impact — even without reducing bed occupancy itself.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56208"/>
            <a:ext cx="1701857" cy="145256"/>
          </a:xfrm>
          <a:prstGeom prst="roundRect">
            <a:avLst>
              <a:gd name="adj" fmla="val 22118"/>
            </a:avLst>
          </a:prstGeom>
          <a:solidFill>
            <a:srgbClr val="EEDDDD"/>
          </a:solidFill>
          <a:ln/>
        </p:spPr>
      </p:sp>
      <p:sp>
        <p:nvSpPr>
          <p:cNvPr id="3" name="Text 1"/>
          <p:cNvSpPr/>
          <p:nvPr/>
        </p:nvSpPr>
        <p:spPr>
          <a:xfrm>
            <a:off x="718822" y="484882"/>
            <a:ext cx="2196747" cy="87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09 — RECOMMENDATIONS &amp; CONCLUSION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661475" y="623491"/>
            <a:ext cx="10868745" cy="298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Recommendations &amp; Conclusion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1060351"/>
            <a:ext cx="5317794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Recommendations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7292" y="1274763"/>
            <a:ext cx="143368" cy="1433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2121" y="1271885"/>
            <a:ext cx="5007147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Staffing &amp; Resources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2121" y="1476573"/>
            <a:ext cx="5007147" cy="241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Review staffing and resource allocation protocols during periods of high bed occupancy to protect response capacity.</a:t>
            </a:r>
            <a:endParaRPr lang="en-US" sz="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7292" y="1831479"/>
            <a:ext cx="143368" cy="14337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72121" y="1828602"/>
            <a:ext cx="5007147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Fall Prevention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972121" y="2033290"/>
            <a:ext cx="5007147" cy="241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Strengthen patient monitoring and fall-prevention practices during higher-risk periods — particularly when occupancy exceeds 97%.</a:t>
            </a:r>
            <a:endParaRPr lang="en-US" sz="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7292" y="2388195"/>
            <a:ext cx="143368" cy="14337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72121" y="2385318"/>
            <a:ext cx="5007147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Responsiveness Monitoring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972121" y="2590006"/>
            <a:ext cx="5007147" cy="241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Track staff responsiveness against yearly benchmarks (65–66) and investigate periods of underperformance with structured root-cause reviews.</a:t>
            </a:r>
            <a:endParaRPr lang="en-US" sz="7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7292" y="2944912"/>
            <a:ext cx="143368" cy="14337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72121" y="2942034"/>
            <a:ext cx="5007147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KPI Dashboard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972121" y="3146723"/>
            <a:ext cx="5007147" cy="12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 the Power BI dashboard to monitor occupancy, fall rates, and responsiveness together in real time.</a:t>
            </a:r>
            <a:endParaRPr lang="en-US" sz="7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7292" y="3380879"/>
            <a:ext cx="143368" cy="14337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72121" y="3378002"/>
            <a:ext cx="5007147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Further Analysis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972121" y="3582690"/>
            <a:ext cx="5007147" cy="241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Incorporate staffing levels, patient acuity, and unit-level data to better understand the drivers of patient falls beyond the three KPIs analyzed.</a:t>
            </a:r>
            <a:endParaRPr lang="en-US" sz="750" dirty="0"/>
          </a:p>
        </p:txBody>
      </p:sp>
      <p:sp>
        <p:nvSpPr>
          <p:cNvPr id="21" name="Text 14"/>
          <p:cNvSpPr/>
          <p:nvPr/>
        </p:nvSpPr>
        <p:spPr>
          <a:xfrm>
            <a:off x="6218776" y="1060351"/>
            <a:ext cx="5317794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Power BI Dashboard</a:t>
            </a:r>
            <a:endParaRPr lang="en-US" sz="9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8776" y="1271885"/>
            <a:ext cx="4285845" cy="338842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218776" y="4722416"/>
            <a:ext cx="5317794" cy="1045766"/>
          </a:xfrm>
          <a:prstGeom prst="roundRect">
            <a:avLst>
              <a:gd name="adj" fmla="val 3840"/>
            </a:avLst>
          </a:prstGeom>
          <a:solidFill>
            <a:srgbClr val="F0DEDC"/>
          </a:solidFill>
          <a:ln w="6350">
            <a:solidFill>
              <a:srgbClr val="C7A8A8"/>
            </a:solidFill>
            <a:prstDash val="solid"/>
          </a:ln>
          <a:effectLst>
            <a:outerShdw sx="100000" sy="100000" kx="0" ky="0" algn="bl" rotWithShape="0" blurRad="127" dist="11430" dir="2700000">
              <a:srgbClr val="c7a8a8">
                <a:alpha val="100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225126" y="4728766"/>
            <a:ext cx="2652547" cy="516533"/>
          </a:xfrm>
          <a:custGeom>
            <a:avLst/>
            <a:gdLst/>
            <a:ahLst/>
            <a:cxnLst/>
            <a:rect l="l" t="t" r="r" b="b"/>
            <a:pathLst>
              <a:path w="2652547" h="516533">
                <a:moveTo>
                  <a:pt x="33466" y="0"/>
                </a:moveTo>
                <a:lnTo>
                  <a:pt x="2652547" y="0"/>
                </a:lnTo>
                <a:lnTo>
                  <a:pt x="2652547" y="516533"/>
                </a:lnTo>
                <a:lnTo>
                  <a:pt x="0" y="516533"/>
                </a:lnTo>
                <a:lnTo>
                  <a:pt x="0" y="33467"/>
                </a:lnTo>
                <a:arcTo hR="33467" wR="33466" stAng="10800000" swAng="5400000"/>
                <a:close/>
              </a:path>
            </a:pathLst>
          </a:custGeom>
          <a:solidFill>
            <a:srgbClr val="F0DEDC"/>
          </a:solidFill>
          <a:ln/>
        </p:spPr>
      </p:sp>
      <p:sp>
        <p:nvSpPr>
          <p:cNvPr id="25" name="Text 17"/>
          <p:cNvSpPr/>
          <p:nvPr/>
        </p:nvSpPr>
        <p:spPr>
          <a:xfrm>
            <a:off x="6320672" y="4824313"/>
            <a:ext cx="2461456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96.2%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6320672" y="5029002"/>
            <a:ext cx="2461456" cy="12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Avg occupancy</a:t>
            </a:r>
            <a:endParaRPr lang="en-US" sz="750" dirty="0"/>
          </a:p>
        </p:txBody>
      </p:sp>
      <p:sp>
        <p:nvSpPr>
          <p:cNvPr id="27" name="Shape 19"/>
          <p:cNvSpPr/>
          <p:nvPr/>
        </p:nvSpPr>
        <p:spPr>
          <a:xfrm>
            <a:off x="8877673" y="4728766"/>
            <a:ext cx="2652547" cy="516533"/>
          </a:xfrm>
          <a:custGeom>
            <a:avLst/>
            <a:gdLst/>
            <a:ahLst/>
            <a:cxnLst/>
            <a:rect l="l" t="t" r="r" b="b"/>
            <a:pathLst>
              <a:path w="2652547" h="516533">
                <a:moveTo>
                  <a:pt x="0" y="0"/>
                </a:moveTo>
                <a:lnTo>
                  <a:pt x="2619081" y="0"/>
                </a:lnTo>
                <a:arcTo hR="33467" wR="33466" stAng="16200000" swAng="5400000"/>
                <a:lnTo>
                  <a:pt x="2652547" y="516533"/>
                </a:lnTo>
                <a:lnTo>
                  <a:pt x="0" y="516533"/>
                </a:lnTo>
                <a:lnTo>
                  <a:pt x="0" y="0"/>
                </a:lnTo>
                <a:close/>
              </a:path>
            </a:pathLst>
          </a:custGeom>
          <a:solidFill>
            <a:srgbClr val="F0DEDC"/>
          </a:solidFill>
          <a:ln/>
        </p:spPr>
      </p:sp>
      <p:sp>
        <p:nvSpPr>
          <p:cNvPr id="28" name="Shape 20"/>
          <p:cNvSpPr/>
          <p:nvPr/>
        </p:nvSpPr>
        <p:spPr>
          <a:xfrm>
            <a:off x="8877673" y="4728766"/>
            <a:ext cx="12700" cy="516533"/>
          </a:xfrm>
          <a:prstGeom prst="roundRect">
            <a:avLst>
              <a:gd name="adj" fmla="val 49999"/>
            </a:avLst>
          </a:prstGeom>
          <a:solidFill>
            <a:srgbClr val="B2AAD2"/>
          </a:solidFill>
          <a:ln/>
        </p:spPr>
      </p:sp>
      <p:sp>
        <p:nvSpPr>
          <p:cNvPr id="29" name="Text 21"/>
          <p:cNvSpPr/>
          <p:nvPr/>
        </p:nvSpPr>
        <p:spPr>
          <a:xfrm>
            <a:off x="8973218" y="4824313"/>
            <a:ext cx="2461456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 = +0.70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8973218" y="5029002"/>
            <a:ext cx="2461456" cy="12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Occupancy → Falls</a:t>
            </a:r>
            <a:endParaRPr lang="en-US" sz="750" dirty="0"/>
          </a:p>
        </p:txBody>
      </p:sp>
      <p:sp>
        <p:nvSpPr>
          <p:cNvPr id="31" name="Shape 23"/>
          <p:cNvSpPr/>
          <p:nvPr/>
        </p:nvSpPr>
        <p:spPr>
          <a:xfrm>
            <a:off x="6225126" y="5245298"/>
            <a:ext cx="5305094" cy="516533"/>
          </a:xfrm>
          <a:custGeom>
            <a:avLst/>
            <a:gdLst/>
            <a:ahLst/>
            <a:cxnLst/>
            <a:rect l="l" t="t" r="r" b="b"/>
            <a:pathLst>
              <a:path w="5305094" h="516533">
                <a:moveTo>
                  <a:pt x="0" y="0"/>
                </a:moveTo>
                <a:lnTo>
                  <a:pt x="5305094" y="0"/>
                </a:lnTo>
                <a:lnTo>
                  <a:pt x="5305094" y="483066"/>
                </a:lnTo>
                <a:arcTo hR="33467" wR="33466" stAng="0" swAng="5400000"/>
                <a:lnTo>
                  <a:pt x="33466" y="516533"/>
                </a:lnTo>
                <a:arcTo hR="33467" wR="33466" stAng="5400000" swAng="5400000"/>
                <a:lnTo>
                  <a:pt x="0" y="0"/>
                </a:lnTo>
                <a:close/>
              </a:path>
            </a:pathLst>
          </a:custGeom>
          <a:solidFill>
            <a:srgbClr val="F0DEDC"/>
          </a:solidFill>
          <a:ln/>
        </p:spPr>
      </p:sp>
      <p:sp>
        <p:nvSpPr>
          <p:cNvPr id="32" name="Shape 24"/>
          <p:cNvSpPr/>
          <p:nvPr/>
        </p:nvSpPr>
        <p:spPr>
          <a:xfrm>
            <a:off x="6225126" y="5245298"/>
            <a:ext cx="5305094" cy="12700"/>
          </a:xfrm>
          <a:prstGeom prst="roundRect">
            <a:avLst>
              <a:gd name="adj" fmla="val 49999"/>
            </a:avLst>
          </a:prstGeom>
          <a:solidFill>
            <a:srgbClr val="9AC0CA"/>
          </a:solidFill>
          <a:ln/>
        </p:spPr>
      </p:sp>
      <p:sp>
        <p:nvSpPr>
          <p:cNvPr id="33" name="Text 25"/>
          <p:cNvSpPr/>
          <p:nvPr/>
        </p:nvSpPr>
        <p:spPr>
          <a:xfrm>
            <a:off x="6320672" y="5340846"/>
            <a:ext cx="5114003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 = −0.79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6320672" y="5545534"/>
            <a:ext cx="5114003" cy="12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Responsiveness → Falls</a:t>
            </a:r>
            <a:endParaRPr lang="en-US" sz="750" dirty="0"/>
          </a:p>
        </p:txBody>
      </p:sp>
      <p:sp>
        <p:nvSpPr>
          <p:cNvPr id="35" name="Shape 27"/>
          <p:cNvSpPr/>
          <p:nvPr/>
        </p:nvSpPr>
        <p:spPr>
          <a:xfrm>
            <a:off x="6218776" y="5830292"/>
            <a:ext cx="5317794" cy="509290"/>
          </a:xfrm>
          <a:prstGeom prst="roundRect">
            <a:avLst>
              <a:gd name="adj" fmla="val 7885"/>
            </a:avLst>
          </a:prstGeom>
          <a:solidFill>
            <a:srgbClr val="EEDDDD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14322" y="5920978"/>
            <a:ext cx="119456" cy="9554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529323" y="5903813"/>
            <a:ext cx="4911701" cy="362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Conclusion:</a:t>
            </a:r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The analysis found meaningful relationships among bed occupancy, staff responsiveness, and unassisted falls. Higher occupancy was associated with higher fall rates; better staff responsiveness was associated with fewer falls — and represents the strongest operational lever for patient safety improvement.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2026-08-23T16:47:18Z</dcterms:created>
  <dcterms:modified xsi:type="dcterms:W3CDTF">2026-08-23T16:47:18Z</dcterms:modified>
</cp:coreProperties>
</file>